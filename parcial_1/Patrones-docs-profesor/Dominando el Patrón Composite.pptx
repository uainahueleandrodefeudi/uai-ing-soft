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</ns0:sldIdLst>
  <ns0:sldSz cx="12192000" cy="6858000" type="screen4x3"/>
  <ns0:notesSz cx="6858000" cy="9144000"/>
  <ns0:embeddedFontLst>
    <ns0:embeddedFont>
      <ns0:font typeface="Plus Jakarta Sans"/>
      <ns0:bold ns1:id="rIdFont23"/>
      <ns0:regular ns1:id="rIdFont24"/>
    </ns0:embeddedFont>
    <ns0:embeddedFont>
      <ns0:font typeface="Fira Code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Font23" Type="http://schemas.openxmlformats.org/officeDocument/2006/relationships/font" Target="fonts/0f030f20-8025-4807-bcf6-917e4e5b4083.fntdata" /><ns0:Relationship Id="rIdFont24" Type="http://schemas.openxmlformats.org/officeDocument/2006/relationships/font" Target="fonts/17ab8dc2-1e2e-477c-a3d9-e67dce3e3bfe.fntdata" /><ns0:Relationship Id="rIdFont25" Type="http://schemas.openxmlformats.org/officeDocument/2006/relationships/font" Target="fonts/536eda38-ba53-40d5-9e77-256335b3e81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70907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110829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INGENIERÍA DE SOFTWARE · CÁTEDRA DE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44204"/>
            <a:ext cx="8601075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8FAFC"/>
                </a:solidFill>
                <a:latin typeface="Plus Jakarta Sans"/>
              </a:rPr>
              <a:t>Dominando el Patrón Composite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17590"/>
            <a:ext cx="6572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Estructuras todo-parte, polimorfismo recursivo y prevención de errores críticos.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28950"/>
            <a:ext cx="3403550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028950"/>
            <a:ext cx="3403550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028950"/>
            <a:ext cx="3403550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DIAGNÓSTICO DEL EXAMEN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Los Tres Bloqueos Recurrentes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343275"/>
            <a:ext cx="3563875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990975"/>
            <a:ext cx="37420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Confusión Inicial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305300"/>
            <a:ext cx="3563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Sesgo creacional hacia Factory.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0375" y="3343275"/>
            <a:ext cx="3563875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0375" y="3990975"/>
            <a:ext cx="37420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Ruptura Polimórfica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0375" y="4305300"/>
            <a:ext cx="3563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Modelado con listas separadas.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525" y="3343275"/>
            <a:ext cx="3563875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3990975"/>
            <a:ext cx="374206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Ciclos Infinitos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525" y="4305300"/>
            <a:ext cx="3563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Referencias circulares en árbol.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47987"/>
            <a:ext cx="5172075" cy="1933575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38875" y="2938462"/>
            <a:ext cx="5191125" cy="1952625"/>
          </a:xfrm>
          <a:prstGeom prst="roundRect">
            <a:avLst>
              <a:gd name="adj" fmla="val 5853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CRITERIO DE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Distinción entre Familias GoF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262312"/>
            <a:ext cx="596324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64748B"/>
                </a:solidFill>
                <a:latin typeface="Plus Jakarta Sans"/>
              </a:rPr>
              <a:t>Patrones No Estructurales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262312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lus Jakarta Sans"/>
              </a:rPr>
              <a:t>Patrón Composite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681412"/>
            <a:ext cx="56792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Factory Method: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Instanciación diferida en subclases.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014787"/>
            <a:ext cx="56792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Abstract Factory: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Creación de familias de objetos.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348162"/>
            <a:ext cx="56792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Observer: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Notificación ante cambios de estado.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681412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Propósito: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Estructurar jerarquías en árbol todo-parte.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014787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Foco: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Composición recursiva de elementos.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348162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Clave: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Tratamiento uniforme a cualquier nivel.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DEFINICIÓN GOF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El Principio de Uniformidad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3251001"/>
            <a:ext cx="10477500" cy="822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"Permite tratar a los objetos individuales y a sus composiciones de manera idéntica."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4302323"/>
            <a:ext cx="77390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Plus Jakarta Sans"/>
              </a:rPr>
              <a:t>El cliente desconoce si ejecuta una tarea simple o un árbol completo.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262812" y="2362200"/>
            <a:ext cx="4167187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62812" y="3409950"/>
            <a:ext cx="4167187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62812" y="4457700"/>
            <a:ext cx="4167187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71625"/>
            <a:ext cx="6157912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1733550"/>
            <a:ext cx="5834062" cy="424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ESTRUCTURA CANÓNICA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Roles y Relaciones del Patrón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937" y="2562225"/>
            <a:ext cx="4691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1. Componente &amp; 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0937" y="2838450"/>
            <a:ext cx="46136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Contrato común sin branching condicional.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0937" y="3609975"/>
            <a:ext cx="4691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2. Hoja (Leaf)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0937" y="3886200"/>
            <a:ext cx="46136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Ejecuta trabajo concreto sin delegar.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0937" y="4657725"/>
            <a:ext cx="4691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3. Compuesto (Composite)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0937" y="4933950"/>
            <a:ext cx="46136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Colección uniforme y delegación recursiva.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90825"/>
            <a:ext cx="5181600" cy="2209800"/>
          </a:xfrm>
          <a:prstGeom prst="roundRect">
            <a:avLst>
              <a:gd name="adj" fmla="val 5172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05125"/>
            <a:ext cx="5181600" cy="198120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ERROR TÍPICO N°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El Anti-Patrón de las Dos Listas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409950"/>
            <a:ext cx="466725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81337"/>
                </a:solidFill>
                <a:latin typeface="Plus Jakarta Sans"/>
              </a:rPr>
              <a:t>class Etapa { List tareas; List subEtapas;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3524250"/>
            <a:ext cx="4667250" cy="1057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4532D"/>
                </a:solidFill>
                <a:latin typeface="Plus Jakarta Sans"/>
              </a:rPr>
              <a:t>class Etapa : ComponenteProyecto { List hijos;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105150"/>
            <a:ext cx="59757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E123C"/>
                </a:solidFill>
                <a:latin typeface="Plus Jakarta Sans"/>
              </a:rPr>
              <a:t>Diseño Incorrecto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457575"/>
            <a:ext cx="4648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81337"/>
                </a:solidFill>
                <a:latin typeface="Fira Code"/>
              </a:rPr>
              <a:t>class Etapa { List tareas; List subEtapas;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486275"/>
            <a:ext cx="5691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F1239"/>
                </a:solidFill>
                <a:latin typeface="Plus Jakarta Sans"/>
              </a:rPr>
              <a:t>Rompe recursividad y duplica recorridos.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219450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5803D"/>
                </a:solidFill>
                <a:latin typeface="Plus Jakarta Sans"/>
              </a:rPr>
              <a:t>Diseño Polimórfico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571875"/>
            <a:ext cx="4648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4532D"/>
                </a:solidFill>
                <a:latin typeface="Fira Code"/>
              </a:rPr>
              <a:t>class Etapa : ComponenteProyecto { List hijos;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371975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66534"/>
                </a:solidFill>
                <a:latin typeface="Plus Jakarta Sans"/>
              </a:rPr>
              <a:t>Recursividad natural con lista única.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47987"/>
            <a:ext cx="5181600" cy="1933575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47987"/>
            <a:ext cx="5181600" cy="1933575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MAPEO DE DOMINIO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Tarea Simple vs Etapa Compuesta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262312"/>
            <a:ext cx="59757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Tarea (Hoja)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262312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Etapa (Compuesto)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681412"/>
            <a:ext cx="569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Naturaleza: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Trabajo concreto e indivisible.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014787"/>
            <a:ext cx="569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Atributos: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Materiales y mano de obra.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348162"/>
            <a:ext cx="569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Cálculo: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Suma directa de costos propios.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681412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Naturaleza: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Contenedor de trabajos u otras etapas.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014787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Atributos: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Colección de componentes hijos.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348162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Cálculo: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Sumatoria delegada en sus elementos.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28937"/>
            <a:ext cx="5181600" cy="1933575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19400"/>
            <a:ext cx="518160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DILEMA DE INTERFAZ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Transparencia vs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243262"/>
            <a:ext cx="59757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Enfoque Seguro (Recomendado)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133725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64748B"/>
                </a:solidFill>
                <a:latin typeface="Plus Jakarta Sans"/>
              </a:rPr>
              <a:t>Enfoque Transparente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662362"/>
            <a:ext cx="569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Ubicación: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Agregar y Quitar solo en Etapa.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995737"/>
            <a:ext cx="569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Ventaja: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Evita excepciones en tiempo de ejecución.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329112"/>
            <a:ext cx="569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Trade-off: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Requiere validar el tipo para agregar.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552825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Ubicación: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Métodos definidos en clase 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886200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Ventaja: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Cliente trata a todos como contenedores.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219575"/>
            <a:ext cx="4648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Trade-off: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Tarea lanza UnsupportedOperationException.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52725"/>
            <a:ext cx="10668000" cy="1819275"/>
          </a:xfrm>
          <a:prstGeom prst="roundRect">
            <a:avLst>
              <a:gd name="adj" fmla="val 628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IMPLEMENTACIÓN EN C#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La Elegancia de la Delegación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3019425"/>
            <a:ext cx="1015365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3C5FD"/>
                </a:solidFill>
                <a:latin typeface="Plus Jakarta Sans"/>
              </a:rPr>
              <a:t>public override decimal</a:t>
            </a:r>
            <a:r>
              <a:rPr b="0" sz="1350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350" i="0" u="none">
                <a:solidFill>
                  <a:srgbClr val="67E8F9"/>
                </a:solidFill>
                <a:latin typeface="Plus Jakarta Sans"/>
              </a:rPr>
              <a:t>CalcularCosto</a:t>
            </a:r>
            <a:r>
              <a:rPr b="0" sz="1350" i="0" u="none">
                <a:solidFill>
                  <a:srgbClr val="E2E8F0"/>
                </a:solidFill>
                <a:latin typeface="Plus Jakarta Sans"/>
              </a:rPr>
              <a:t>() { 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// Delegación polimórfica sin estructuras condicionales</a:t>
            </a:r>
            <a:r>
              <a:rPr b="0" sz="1350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350" i="0" u="none">
                <a:solidFill>
                  <a:srgbClr val="F472B6"/>
                </a:solidFill>
                <a:latin typeface="Plus Jakarta Sans"/>
              </a:rPr>
              <a:t>return</a:t>
            </a:r>
            <a:r>
              <a:rPr b="0" sz="1350" i="0" u="none">
                <a:solidFill>
                  <a:srgbClr val="E2E8F0"/>
                </a:solidFill>
                <a:latin typeface="Plus Jakarta Sans"/>
              </a:rPr>
              <a:t> _elementos.</a:t>
            </a:r>
            <a:r>
              <a:rPr b="0" sz="1350" i="0" u="none">
                <a:solidFill>
                  <a:srgbClr val="67E8F9"/>
                </a:solidFill>
                <a:latin typeface="Plus Jakarta Sans"/>
              </a:rPr>
              <a:t>Sum</a:t>
            </a:r>
            <a:r>
              <a:rPr b="0" sz="1350" i="0" u="none">
                <a:solidFill>
                  <a:srgbClr val="E2E8F0"/>
                </a:solidFill>
                <a:latin typeface="Plus Jakarta Sans"/>
              </a:rPr>
              <a:t>(e =&gt; e.</a:t>
            </a:r>
            <a:r>
              <a:rPr b="0" sz="1350" i="0" u="none">
                <a:solidFill>
                  <a:srgbClr val="67E8F9"/>
                </a:solidFill>
                <a:latin typeface="Plus Jakarta Sans"/>
              </a:rPr>
              <a:t>CalcularCosto</a:t>
            </a:r>
            <a:r>
              <a:rPr b="0" sz="1350" i="0" u="none">
                <a:solidFill>
                  <a:srgbClr val="E2E8F0"/>
                </a:solidFill>
                <a:latin typeface="Plus Jakarta Sans"/>
              </a:rPr>
              <a:t>());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762500"/>
            <a:ext cx="11430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Cero inspecciones con </a:t>
            </a:r>
            <a:r>
              <a:rPr b="0" sz="1350" i="0" u="none">
                <a:solidFill>
                  <a:srgbClr val="0284C7"/>
                </a:solidFill>
                <a:latin typeface="Plus Jakarta Sans"/>
              </a:rPr>
              <a:t>is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o </a:t>
            </a:r>
            <a:r>
              <a:rPr b="0" sz="1350" i="0" u="none">
                <a:solidFill>
                  <a:srgbClr val="0284C7"/>
                </a:solidFill>
                <a:latin typeface="Plus Jakarta Sans"/>
              </a:rPr>
              <a:t>switch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. El tipo concreto resuelve la operación.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019425"/>
            <a:ext cx="1015365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3C5FD"/>
                </a:solidFill>
                <a:latin typeface="Fira Code"/>
              </a:rPr>
              <a:t>public override decimal</a:t>
            </a:r>
            <a:r>
              <a:rPr b="0" sz="1350" i="0" u="none">
                <a:solidFill>
                  <a:srgbClr val="E2E8F0"/>
                </a:solidFill>
                <a:latin typeface="Fira Code"/>
              </a:rPr>
              <a:t> </a:t>
            </a:r>
            <a:r>
              <a:rPr b="0" sz="1350" i="0" u="none">
                <a:solidFill>
                  <a:srgbClr val="67E8F9"/>
                </a:solidFill>
                <a:latin typeface="Fira Code"/>
              </a:rPr>
              <a:t>CalcularCosto</a:t>
            </a:r>
            <a:r>
              <a:rPr b="0" sz="1350" i="0" u="none">
                <a:solidFill>
                  <a:srgbClr val="E2E8F0"/>
                </a:solidFill>
                <a:latin typeface="Fira Code"/>
              </a:rPr>
              <a:t>() { </a:t>
            </a:r>
            <a:r>
              <a:rPr b="0" sz="1350" i="0" u="none">
                <a:solidFill>
                  <a:srgbClr val="94A3B8"/>
                </a:solidFill>
                <a:latin typeface="Fira Code"/>
              </a:rPr>
              <a:t>// Delegación polimórfica sin estructuras condicionales</a:t>
            </a:r>
            <a:r>
              <a:rPr b="0" sz="1350" i="0" u="none">
                <a:solidFill>
                  <a:srgbClr val="E2E8F0"/>
                </a:solidFill>
                <a:latin typeface="Fira Code"/>
              </a:rPr>
              <a:t> </a:t>
            </a:r>
            <a:r>
              <a:rPr b="0" sz="1350" i="0" u="none">
                <a:solidFill>
                  <a:srgbClr val="F472B6"/>
                </a:solidFill>
                <a:latin typeface="Fira Code"/>
              </a:rPr>
              <a:t>return</a:t>
            </a:r>
            <a:r>
              <a:rPr b="0" sz="1350" i="0" u="none">
                <a:solidFill>
                  <a:srgbClr val="E2E8F0"/>
                </a:solidFill>
                <a:latin typeface="Fira Code"/>
              </a:rPr>
              <a:t> _elementos.</a:t>
            </a:r>
            <a:r>
              <a:rPr b="0" sz="1350" i="0" u="none">
                <a:solidFill>
                  <a:srgbClr val="67E8F9"/>
                </a:solidFill>
                <a:latin typeface="Fira Code"/>
              </a:rPr>
              <a:t>Sum</a:t>
            </a:r>
            <a:r>
              <a:rPr b="0" sz="1350" i="0" u="none">
                <a:solidFill>
                  <a:srgbClr val="E2E8F0"/>
                </a:solidFill>
                <a:latin typeface="Fira Code"/>
              </a:rPr>
              <a:t>(e =&gt; e.</a:t>
            </a:r>
            <a:r>
              <a:rPr b="0" sz="1350" i="0" u="none">
                <a:solidFill>
                  <a:srgbClr val="67E8F9"/>
                </a:solidFill>
                <a:latin typeface="Fira Code"/>
              </a:rPr>
              <a:t>CalcularCosto</a:t>
            </a:r>
            <a:r>
              <a:rPr b="0" sz="1350" i="0" u="none">
                <a:solidFill>
                  <a:srgbClr val="E2E8F0"/>
                </a:solidFill>
                <a:latin typeface="Fira Code"/>
              </a:rPr>
              <a:t>());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67450" y="2847975"/>
            <a:ext cx="516255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3971925"/>
            <a:ext cx="5162550" cy="971550"/>
          </a:xfrm>
          <a:prstGeom prst="roundRect">
            <a:avLst>
              <a:gd name="adj" fmla="val 11764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81225"/>
            <a:ext cx="5162550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81225"/>
            <a:ext cx="516255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PUNTO CRÍTICO DEL EXAMEN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La Trampa de los Grafos Cíclicos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575" y="3086100"/>
            <a:ext cx="56864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El Árbol es Acíclico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3362325"/>
            <a:ext cx="56864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Un contenedor no puede contenerse a sí mismo.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4210050"/>
            <a:ext cx="56864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E123C"/>
                </a:solidFill>
                <a:latin typeface="Plus Jakarta Sans"/>
              </a:rPr>
              <a:t>Causa del Desborde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4486275"/>
            <a:ext cx="56864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F1239"/>
                </a:solidFill>
                <a:latin typeface="Plus Jakarta Sans"/>
              </a:rPr>
              <a:t>Agregar un ancestro produce bucles infinitos.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70274"/>
            <a:ext cx="10668000" cy="2003226"/>
          </a:xfrm>
          <a:prstGeom prst="roundRect">
            <a:avLst>
              <a:gd name="adj" fmla="val 570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PREVENCIÓN DE ERRORES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Blindaje Defensivo contra Ciclos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2898874"/>
            <a:ext cx="10229850" cy="15460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3C5FD"/>
                </a:solidFill>
                <a:latin typeface="Plus Jakarta Sans"/>
              </a:rPr>
              <a:t>public void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67E8F9"/>
                </a:solidFill>
                <a:latin typeface="Plus Jakarta Sans"/>
              </a:rPr>
              <a:t>Agregar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(ComponenteProyecto componente) { </a:t>
            </a:r>
            <a:r>
              <a:rPr b="0" sz="1200" i="0" u="none">
                <a:solidFill>
                  <a:srgbClr val="F472B6"/>
                </a:solidFill>
                <a:latin typeface="Plus Jakarta Sans"/>
              </a:rPr>
              <a:t>if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 (componente == </a:t>
            </a:r>
            <a:r>
              <a:rPr b="0" sz="1200" i="0" u="none">
                <a:solidFill>
                  <a:srgbClr val="93C5FD"/>
                </a:solidFill>
                <a:latin typeface="Plus Jakarta Sans"/>
              </a:rPr>
              <a:t>this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 || </a:t>
            </a:r>
            <a:r>
              <a:rPr b="0" sz="1200" i="0" u="none">
                <a:solidFill>
                  <a:srgbClr val="67E8F9"/>
                </a:solidFill>
                <a:latin typeface="Plus Jakarta Sans"/>
              </a:rPr>
              <a:t>EsAncestro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(componente)) </a:t>
            </a:r>
            <a:r>
              <a:rPr b="0" sz="1200" i="0" u="none">
                <a:solidFill>
                  <a:srgbClr val="F472B6"/>
                </a:solidFill>
                <a:latin typeface="Plus Jakarta Sans"/>
              </a:rPr>
              <a:t>throw new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FBBF24"/>
                </a:solidFill>
                <a:latin typeface="Plus Jakarta Sans"/>
              </a:rPr>
              <a:t>InvalidOperationException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(</a:t>
            </a:r>
            <a:r>
              <a:rPr b="0" sz="1200" i="0" u="none">
                <a:solidFill>
                  <a:srgbClr val="A7F3D0"/>
                </a:solidFill>
                <a:latin typeface="Plus Jakarta Sans"/>
              </a:rPr>
              <a:t>"No se admiten ciclos."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); _elementos.</a:t>
            </a:r>
            <a:r>
              <a:rPr b="0" sz="1200" i="0" u="none">
                <a:solidFill>
                  <a:srgbClr val="67E8F9"/>
                </a:solidFill>
                <a:latin typeface="Plus Jakarta Sans"/>
              </a:rPr>
              <a:t>Add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(componente);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864000"/>
            <a:ext cx="1143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Validar identidad y jerarquía superior antes de insertar en colecciones.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898874"/>
            <a:ext cx="10229850" cy="15460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93C5FD"/>
                </a:solidFill>
                <a:latin typeface="Fira Code"/>
              </a:rPr>
              <a:t>public void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 </a:t>
            </a:r>
            <a:r>
              <a:rPr b="0" sz="1200" i="0" u="none">
                <a:solidFill>
                  <a:srgbClr val="67E8F9"/>
                </a:solidFill>
                <a:latin typeface="Fira Code"/>
              </a:rPr>
              <a:t>Agregar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(ComponenteProyecto componente) { </a:t>
            </a:r>
            <a:r>
              <a:rPr b="0" sz="1200" i="0" u="none">
                <a:solidFill>
                  <a:srgbClr val="F472B6"/>
                </a:solidFill>
                <a:latin typeface="Fira Code"/>
              </a:rPr>
              <a:t>if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 (componente == </a:t>
            </a:r>
            <a:r>
              <a:rPr b="0" sz="1200" i="0" u="none">
                <a:solidFill>
                  <a:srgbClr val="93C5FD"/>
                </a:solidFill>
                <a:latin typeface="Fira Code"/>
              </a:rPr>
              <a:t>this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 || </a:t>
            </a:r>
            <a:r>
              <a:rPr b="0" sz="1200" i="0" u="none">
                <a:solidFill>
                  <a:srgbClr val="67E8F9"/>
                </a:solidFill>
                <a:latin typeface="Fira Code"/>
              </a:rPr>
              <a:t>EsAncestro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(componente)) </a:t>
            </a:r>
            <a:r>
              <a:rPr b="0" sz="1200" i="0" u="none">
                <a:solidFill>
                  <a:srgbClr val="F472B6"/>
                </a:solidFill>
                <a:latin typeface="Fira Code"/>
              </a:rPr>
              <a:t>throw new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 </a:t>
            </a:r>
            <a:r>
              <a:rPr b="0" sz="1200" i="0" u="none">
                <a:solidFill>
                  <a:srgbClr val="FBBF24"/>
                </a:solidFill>
                <a:latin typeface="Fira Code"/>
              </a:rPr>
              <a:t>InvalidOperationException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(</a:t>
            </a:r>
            <a:r>
              <a:rPr b="0" sz="1200" i="0" u="none">
                <a:solidFill>
                  <a:srgbClr val="A7F3D0"/>
                </a:solidFill>
                <a:latin typeface="Fira Code"/>
              </a:rPr>
              <a:t>"No se admiten ciclos."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); _elementos.</a:t>
            </a:r>
            <a:r>
              <a:rPr b="0" sz="1200" i="0" u="none">
                <a:solidFill>
                  <a:srgbClr val="67E8F9"/>
                </a:solidFill>
                <a:latin typeface="Fira Code"/>
              </a:rPr>
              <a:t>Add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(componente);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333750"/>
            <a:ext cx="340355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333750"/>
            <a:ext cx="340355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333750"/>
            <a:ext cx="340355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INTERACCIÓN CON EL USUARIO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Construcción Segura desde Consola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648075"/>
            <a:ext cx="38420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Paso 1: Selección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962400"/>
            <a:ext cx="3659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Elegir nodo padre de destino.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275" y="3648075"/>
            <a:ext cx="38420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Paso 2: Instanciación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275" y="3962400"/>
            <a:ext cx="3659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Crear instancia de tarea o etapa.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4425" y="3648075"/>
            <a:ext cx="38420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Paso 3: Inserción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4425" y="3962400"/>
            <a:ext cx="3659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Vincular al contenedor validado.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95812" y="2562225"/>
            <a:ext cx="3000375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6475" y="3876675"/>
            <a:ext cx="19050" cy="2286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5662" y="4295775"/>
            <a:ext cx="18288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81662" y="4295775"/>
            <a:ext cx="3114675" cy="895350"/>
          </a:xfrm>
          <a:prstGeom prst="roundRect">
            <a:avLst>
              <a:gd name="adj" fmla="val 10638"/>
            </a:avLst>
          </a:prstGeom>
          <a:solidFill>
            <a:srgbClr val="EFF6FF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DISEÑO ESTRUCTURAL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Diagrama de Clases del Examen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203" y="2771775"/>
            <a:ext cx="2845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Plus Jakarta Sans"/>
              </a:rPr>
              <a:t>«abstract»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063" y="2971800"/>
            <a:ext cx="298787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ComponenteProyecto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203" y="3276600"/>
            <a:ext cx="2845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+ CalcularCosto() : decimal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2464" y="4495800"/>
            <a:ext cx="15751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Tarea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9968" y="4772025"/>
            <a:ext cx="1500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(Hoja indivisible)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0047" y="4505325"/>
            <a:ext cx="323790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369A1"/>
                </a:solidFill>
                <a:latin typeface="Plus Jakarta Sans"/>
              </a:rPr>
              <a:t>Etapa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7140" y="4781550"/>
            <a:ext cx="3083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284C7"/>
                </a:solidFill>
                <a:latin typeface="Plus Jakarta Sans"/>
              </a:rPr>
              <a:t>(Compuesto con lista polimórfica)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333750"/>
            <a:ext cx="340355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224212"/>
            <a:ext cx="3403550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224212"/>
            <a:ext cx="3403550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RÚBRICA DE ÉXITO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Checklist para el Recuperatorio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648075"/>
            <a:ext cx="38420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Polimorfismo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962400"/>
            <a:ext cx="3659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Una sola lista de la clase 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275" y="3538537"/>
            <a:ext cx="38420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Recursividad Limpia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275" y="3852862"/>
            <a:ext cx="30225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Delegación directa en métodos hijos.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4425" y="3538537"/>
            <a:ext cx="38420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Control de Ciclos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4425" y="3852862"/>
            <a:ext cx="30225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Impedir agregar nodos sobre sí mismos.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4384327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27984" y="2435572"/>
            <a:ext cx="25360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Plus Jakarta Sans"/>
              </a:rPr>
              <a:t>CONCLUSIÓN Y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378" y="2768947"/>
            <a:ext cx="9951243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8FAFC"/>
                </a:solidFill>
                <a:latin typeface="Plus Jakarta Sans"/>
              </a:rPr>
              <a:t>Construyendo Código Mantenible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5062" y="3508027"/>
            <a:ext cx="73818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Composite resuelve la complejidad jerárquica transformando árboles en llamadas uniformes.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6655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https://www.dfdhouseplans.com/blog/wp-content/uploads/2022/11/Blueprint2-1.jpg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3107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www.dfdhouseplans.com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